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8553E-1BAB-4F9E-B891-61B121D2993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951452-951F-4AE0-BEF8-156AC82F6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93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951452-951F-4AE0-BEF8-156AC82F64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12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951452-951F-4AE0-BEF8-156AC82F64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43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04D1-84DF-AD3E-A273-02C6AA5C0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3419A5-FC43-29B4-A1A9-E97988ADE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7A949-1730-5F36-F349-842CA4F51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3051-D377-46BB-AD49-AA8B6AD2444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29FBF-7513-F85E-E2D6-72F021905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AFD93-7740-2B78-81E6-65D015389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2627-A205-45D5-8D93-63CA3EF8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970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7100E-E872-4766-47B1-B1E475A6B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339CD-D2AB-8ACF-2D08-75942EEA5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591CA-AF51-91FB-EB97-6FB8F527D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3051-D377-46BB-AD49-AA8B6AD2444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2A28B-EC77-271D-8A89-2D5BA0E2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DABBE-124A-EED3-73AE-257585A30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2627-A205-45D5-8D93-63CA3EF8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013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48E92-967F-38DE-7276-3535234E0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5A384-1F67-5A56-1DC1-AF814C188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7CE0E-921E-9244-E4CC-BA975CE05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3051-D377-46BB-AD49-AA8B6AD2444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8D3A7-41E0-F4B6-5DDC-74E2D57EA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9370A-AAF4-1811-7D8B-2773DBA3B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2627-A205-45D5-8D93-63CA3EF8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7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EE21B-03D0-0FF9-B4E3-5C2DE5978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7A88A-36D0-9ECF-FDC8-8B42320D32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E29AB-F981-217D-FF82-5DA117173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17D1D-3395-F5D8-C1D0-3B41F093F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3051-D377-46BB-AD49-AA8B6AD2444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E019D-2476-43A4-C96F-1CEEE2718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49E6A-EC40-1482-BDFC-A1281A386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2627-A205-45D5-8D93-63CA3EF8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840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1E429-56CC-34F3-A6BA-F5DAEA404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83087-0F20-FACC-7FA8-0F061B771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A9A2B-63A5-81B0-1A70-C8069D5AB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A00E9C-F201-74AB-369F-21F971A4B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22A9CE-9014-C671-7081-B1C0E4A7C5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80BA06-A579-C52D-0C34-3871A89C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3051-D377-46BB-AD49-AA8B6AD2444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4B216-DA09-0D26-ABF9-5719210E0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B4CAAB-4898-D786-7F00-50E46BD5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2627-A205-45D5-8D93-63CA3EF8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723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A6E9-4C92-45FD-6E8E-8D58AD5AF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15EFA7-FA29-0C0B-C8B1-D5B67CDEB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3051-D377-46BB-AD49-AA8B6AD2444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B4D18B-2E3F-5721-E482-F59C4E365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1C08B9-63E7-F560-EA84-235FFF1B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2627-A205-45D5-8D93-63CA3EF8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32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B14BC5-6F30-FAC1-D002-EDBDBE459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3051-D377-46BB-AD49-AA8B6AD2444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34F2BE-468B-FDB0-7C36-332098F11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C9860-225E-B284-5F0F-D894E8AE6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2627-A205-45D5-8D93-63CA3EF8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5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FDFB0-DED4-63B0-0D4F-4488B8076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3CDE5-906E-C3A0-9B8D-20A446CE8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B2C4B8-8540-FF7B-C7F8-72EC3B3B6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E0614-55F2-6192-1CFB-479AB7257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3051-D377-46BB-AD49-AA8B6AD2444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64EA0-55C1-D701-2E5D-69F895E95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017BB-3CB3-69D2-9337-1F2CF5ADB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2627-A205-45D5-8D93-63CA3EF8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82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4E7A2-6CDB-D64F-6004-E448495DD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4D30F-8198-FF8F-9233-50A28C87EC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75302-3ED6-2912-80FE-A3ACBDD75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F93A8-F63B-19BC-8C62-E045D483C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3051-D377-46BB-AD49-AA8B6AD2444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D5AED-477D-3512-FE80-22F1018E8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F4040-5D38-17FD-C72F-9C51B1EC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2627-A205-45D5-8D93-63CA3EF8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369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24A10-9002-70E5-32C9-BE161D9E4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A4B1F-04C4-7B65-D5E3-4058EF8B9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3D2FA-E0D2-8C69-E734-674EE14C1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3051-D377-46BB-AD49-AA8B6AD2444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92E87-6EF5-3B9A-BDD1-A317D76E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E0694-F51F-BC24-953B-BC3A3AD6F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2627-A205-45D5-8D93-63CA3EF8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92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FC5BB-2FE0-6F9E-8BE2-A6450D062E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7653EC-B7EF-C966-6631-CE15B51DF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23D6D-4E38-4E24-6012-23AC2603D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3051-D377-46BB-AD49-AA8B6AD2444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17FDE-DC55-5275-CC44-1D67E6575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56445-0863-29D0-5B9F-B922E1ED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2627-A205-45D5-8D93-63CA3EF8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2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10B715-39DA-C420-2519-C6124D36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36F5B-8456-0095-38CB-1CFB426A5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29B1F-6C0F-8547-2F17-CB6D26872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33051-D377-46BB-AD49-AA8B6AD2444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91E91-EE76-D7AC-66E5-5E60C0DD7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5A757-6469-E7B7-5860-FB910AA5C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62627-A205-45D5-8D93-63CA3EF8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95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E355D5-E56F-2B9D-EEE2-45BF6F325706}"/>
              </a:ext>
            </a:extLst>
          </p:cNvPr>
          <p:cNvSpPr txBox="1"/>
          <p:nvPr/>
        </p:nvSpPr>
        <p:spPr>
          <a:xfrm>
            <a:off x="182880" y="215877"/>
            <a:ext cx="11836400" cy="654935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>
                <a:solidFill>
                  <a:srgbClr val="002060"/>
                </a:solidFill>
              </a:rPr>
              <a:t>Retail Sales Data Analysis</a:t>
            </a:r>
          </a:p>
          <a:p>
            <a:pPr>
              <a:lnSpc>
                <a:spcPct val="150000"/>
              </a:lnSpc>
              <a:buNone/>
            </a:pPr>
            <a:r>
              <a:rPr lang="en-US" sz="2800" i="1" dirty="0"/>
              <a:t>Season, Promotion &amp; Product Insights</a:t>
            </a:r>
          </a:p>
          <a:p>
            <a:pPr>
              <a:lnSpc>
                <a:spcPct val="150000"/>
              </a:lnSpc>
              <a:buNone/>
            </a:pPr>
            <a:endParaRPr lang="en-US" sz="2800" i="1" dirty="0"/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Presented by:</a:t>
            </a:r>
            <a:br>
              <a:rPr lang="en-US" b="1" dirty="0"/>
            </a:br>
            <a:r>
              <a:rPr lang="en-US" sz="2200" dirty="0"/>
              <a:t>Sohail</a:t>
            </a:r>
          </a:p>
          <a:p>
            <a:pPr>
              <a:lnSpc>
                <a:spcPct val="150000"/>
              </a:lnSpc>
              <a:buNone/>
            </a:pPr>
            <a:endParaRPr lang="en-US" sz="2200" i="1" dirty="0"/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Role:</a:t>
            </a:r>
            <a:br>
              <a:rPr lang="en-US" dirty="0"/>
            </a:br>
            <a:r>
              <a:rPr lang="en-US" sz="2200" dirty="0"/>
              <a:t>Aspiring Data Analyst</a:t>
            </a:r>
          </a:p>
          <a:p>
            <a:pPr>
              <a:lnSpc>
                <a:spcPct val="150000"/>
              </a:lnSpc>
              <a:buNone/>
            </a:pPr>
            <a:endParaRPr lang="en-US" sz="2200" i="1" dirty="0"/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Tools Used:</a:t>
            </a:r>
            <a:br>
              <a:rPr lang="en-US" dirty="0"/>
            </a:br>
            <a:r>
              <a:rPr lang="en-US" sz="2200" dirty="0"/>
              <a:t>Python, Pandas, Matplotlib, Seaborn</a:t>
            </a:r>
          </a:p>
        </p:txBody>
      </p:sp>
    </p:spTree>
    <p:extLst>
      <p:ext uri="{BB962C8B-B14F-4D97-AF65-F5344CB8AC3E}">
        <p14:creationId xmlns:p14="http://schemas.microsoft.com/office/powerpoint/2010/main" val="3637009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1AA7B5-A182-805C-DD65-E8BB8337F1ED}"/>
              </a:ext>
            </a:extLst>
          </p:cNvPr>
          <p:cNvSpPr txBox="1"/>
          <p:nvPr/>
        </p:nvSpPr>
        <p:spPr>
          <a:xfrm>
            <a:off x="172720" y="711200"/>
            <a:ext cx="1184656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002060"/>
                </a:solidFill>
              </a:rPr>
              <a:t>Problem Statement:</a:t>
            </a:r>
            <a:br>
              <a:rPr lang="en-US" sz="2400" dirty="0">
                <a:solidFill>
                  <a:srgbClr val="002060"/>
                </a:solidFill>
              </a:rPr>
            </a:br>
            <a:r>
              <a:rPr lang="en-US" sz="2800" dirty="0"/>
              <a:t>Retail businesses generate large volumes of sales data across different seasons, promotions, and product categories.</a:t>
            </a:r>
            <a:br>
              <a:rPr lang="en-US" sz="2800" dirty="0"/>
            </a:br>
            <a:r>
              <a:rPr lang="en-US" sz="2800" dirty="0"/>
              <a:t>However, without proper analysis, it becomes difficult to understand sales patterns, customer behavior, and the impact of promotions</a:t>
            </a:r>
            <a:r>
              <a:rPr lang="en-US" sz="2000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3200" b="1" dirty="0">
                <a:solidFill>
                  <a:srgbClr val="002060"/>
                </a:solidFill>
              </a:rPr>
              <a:t>Objectives:</a:t>
            </a:r>
            <a:endParaRPr lang="en-US" sz="3200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Analyze sales data across different </a:t>
            </a:r>
            <a:r>
              <a:rPr lang="en-US" sz="2800" b="1" dirty="0"/>
              <a:t>seasons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Study the impact of </a:t>
            </a:r>
            <a:r>
              <a:rPr lang="en-US" sz="2800" b="1" dirty="0"/>
              <a:t>promotions</a:t>
            </a:r>
            <a:r>
              <a:rPr lang="en-US" sz="2800" dirty="0"/>
              <a:t> on product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Identify high-performing and low-performing </a:t>
            </a:r>
            <a:r>
              <a:rPr lang="en-US" sz="2800" b="1" dirty="0"/>
              <a:t>product categories/sections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Generate business insights using </a:t>
            </a:r>
            <a:r>
              <a:rPr lang="en-US" sz="2800" b="1" dirty="0"/>
              <a:t>data visualization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00581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FABE25-0296-A1B7-925B-74F9C80C1799}"/>
              </a:ext>
            </a:extLst>
          </p:cNvPr>
          <p:cNvSpPr txBox="1"/>
          <p:nvPr/>
        </p:nvSpPr>
        <p:spPr>
          <a:xfrm>
            <a:off x="355600" y="1022479"/>
            <a:ext cx="114808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002060"/>
                </a:solidFill>
              </a:rPr>
              <a:t>Dataset Overview</a:t>
            </a:r>
          </a:p>
          <a:p>
            <a:pPr>
              <a:buNone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The dataset contains retail business sales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It includes information about: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Product category / material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Store section (Men’s &amp; Women’s)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Season (Winter, Autumn, Spring, Summer)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Sales quantity / count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The data is used to analyze sales trends and customer preferences.</a:t>
            </a:r>
          </a:p>
        </p:txBody>
      </p:sp>
    </p:spTree>
    <p:extLst>
      <p:ext uri="{BB962C8B-B14F-4D97-AF65-F5344CB8AC3E}">
        <p14:creationId xmlns:p14="http://schemas.microsoft.com/office/powerpoint/2010/main" val="622962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D5A0CC-CAEF-7FB8-F5F3-67B07507255E}"/>
              </a:ext>
            </a:extLst>
          </p:cNvPr>
          <p:cNvSpPr txBox="1"/>
          <p:nvPr/>
        </p:nvSpPr>
        <p:spPr>
          <a:xfrm>
            <a:off x="86360" y="1220152"/>
            <a:ext cx="1201928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002060"/>
                </a:solidFill>
              </a:rPr>
              <a:t>Tools &amp; Technologies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Python</a:t>
            </a:r>
            <a:r>
              <a:rPr lang="en-US" sz="2800" dirty="0"/>
              <a:t> – Data analysis and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Pandas</a:t>
            </a:r>
            <a:r>
              <a:rPr lang="en-US" sz="2800" dirty="0"/>
              <a:t> – Data cleaning and manipulation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Matplotlib &amp; Seaborn</a:t>
            </a:r>
            <a:r>
              <a:rPr lang="en-US" sz="2800" dirty="0"/>
              <a:t> – Data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 err="1"/>
              <a:t>Jupyter</a:t>
            </a:r>
            <a:r>
              <a:rPr lang="en-US" sz="2800" b="1" dirty="0"/>
              <a:t> Notebook</a:t>
            </a:r>
            <a:r>
              <a:rPr lang="en-US" sz="2800" dirty="0"/>
              <a:t> – Analysis environment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MS PowerPoint</a:t>
            </a:r>
            <a:r>
              <a:rPr lang="en-US" sz="2800" dirty="0"/>
              <a:t> – Presentation of insights</a:t>
            </a:r>
          </a:p>
        </p:txBody>
      </p:sp>
    </p:spTree>
    <p:extLst>
      <p:ext uri="{BB962C8B-B14F-4D97-AF65-F5344CB8AC3E}">
        <p14:creationId xmlns:p14="http://schemas.microsoft.com/office/powerpoint/2010/main" val="827265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954310-AFEB-260A-605E-042750B99B9F}"/>
              </a:ext>
            </a:extLst>
          </p:cNvPr>
          <p:cNvSpPr txBox="1"/>
          <p:nvPr/>
        </p:nvSpPr>
        <p:spPr>
          <a:xfrm>
            <a:off x="142240" y="1127760"/>
            <a:ext cx="1219200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002060"/>
                </a:solidFill>
              </a:rPr>
              <a:t>Data Cleaning</a:t>
            </a:r>
          </a:p>
          <a:p>
            <a:pPr>
              <a:buNone/>
            </a:pPr>
            <a:endParaRPr lang="en-US" sz="3600" b="1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Checked for missing and null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Removed duplicate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Standardized column names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Corrected inconsistent category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Ensured data types were correct for analysis</a:t>
            </a:r>
          </a:p>
        </p:txBody>
      </p:sp>
    </p:spTree>
    <p:extLst>
      <p:ext uri="{BB962C8B-B14F-4D97-AF65-F5344CB8AC3E}">
        <p14:creationId xmlns:p14="http://schemas.microsoft.com/office/powerpoint/2010/main" val="2314979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170BCC-737A-712B-4D09-584C0FC8E9B4}"/>
              </a:ext>
            </a:extLst>
          </p:cNvPr>
          <p:cNvSpPr txBox="1"/>
          <p:nvPr/>
        </p:nvSpPr>
        <p:spPr>
          <a:xfrm>
            <a:off x="223520" y="955040"/>
            <a:ext cx="1219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002060"/>
                </a:solidFill>
              </a:rPr>
              <a:t>Exploratory Data </a:t>
            </a:r>
            <a:r>
              <a:rPr lang="en-US" sz="3200" b="1" dirty="0">
                <a:solidFill>
                  <a:srgbClr val="002060"/>
                </a:solidFill>
              </a:rPr>
              <a:t>Analysis</a:t>
            </a:r>
          </a:p>
          <a:p>
            <a:pPr>
              <a:buNone/>
            </a:pPr>
            <a:endParaRPr lang="en-US" sz="3200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Analyzed sales distribution across seasons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Compared sales between Men’s and Women’s sections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Identified popular materials and products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Used bar charts and grouped plots for comparison</a:t>
            </a:r>
          </a:p>
        </p:txBody>
      </p:sp>
    </p:spTree>
    <p:extLst>
      <p:ext uri="{BB962C8B-B14F-4D97-AF65-F5344CB8AC3E}">
        <p14:creationId xmlns:p14="http://schemas.microsoft.com/office/powerpoint/2010/main" val="2319075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ABFDA0-5DB8-F6DB-1FA6-119992A99A6D}"/>
              </a:ext>
            </a:extLst>
          </p:cNvPr>
          <p:cNvSpPr txBox="1"/>
          <p:nvPr/>
        </p:nvSpPr>
        <p:spPr>
          <a:xfrm>
            <a:off x="87086" y="816766"/>
            <a:ext cx="121920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002060"/>
                </a:solidFill>
              </a:rPr>
              <a:t>Sales Distribution by Season</a:t>
            </a:r>
          </a:p>
          <a:p>
            <a:pPr>
              <a:buNone/>
            </a:pPr>
            <a:endParaRPr lang="en-US" sz="3200" dirty="0"/>
          </a:p>
          <a:p>
            <a:pPr>
              <a:buNone/>
            </a:pPr>
            <a:r>
              <a:rPr lang="en-US" sz="2400" dirty="0"/>
              <a:t>Winter and Autumn show the highest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Spring records moderate sales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Summer sales are comparatively 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Seasonal demand significantly impacts overall sales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DFC37C-5FA0-54ED-BFE2-F5D5B2676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439" y="1"/>
            <a:ext cx="54965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888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4DDBD6-A60D-497F-A2D6-F5449F39CD52}"/>
              </a:ext>
            </a:extLst>
          </p:cNvPr>
          <p:cNvSpPr txBox="1"/>
          <p:nvPr/>
        </p:nvSpPr>
        <p:spPr>
          <a:xfrm>
            <a:off x="162560" y="682397"/>
            <a:ext cx="91440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002060"/>
                </a:solidFill>
              </a:rPr>
              <a:t>Material Distribution Analysis</a:t>
            </a:r>
          </a:p>
          <a:p>
            <a:pPr>
              <a:buNone/>
            </a:pPr>
            <a:endParaRPr lang="en-US" sz="3200" b="1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Cotton and Wool are the most popular materials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Polyester shows consistent demand across seasons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Satin and Silk have lower sales volumes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Material preference varies by season and section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9BC3A8-866A-F3EE-E957-A969FE01E0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320" y="172720"/>
            <a:ext cx="5567680" cy="668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96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9A5DDD-6657-BD2A-CF83-741332ECEAB8}"/>
              </a:ext>
            </a:extLst>
          </p:cNvPr>
          <p:cNvSpPr txBox="1"/>
          <p:nvPr/>
        </p:nvSpPr>
        <p:spPr>
          <a:xfrm>
            <a:off x="0" y="716618"/>
            <a:ext cx="12192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002060"/>
                </a:solidFill>
              </a:rPr>
              <a:t>Section-wise Analysis</a:t>
            </a:r>
          </a:p>
          <a:p>
            <a:pPr>
              <a:buNone/>
            </a:pPr>
            <a:endParaRPr lang="en-US" sz="3600" b="1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Women’s section shows higher overall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Men’s section performs strongly in Winter season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Certain materials perform differently across sections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Visual comparison helps identify section-based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Women’s section dominates overall sales across most</a:t>
            </a:r>
          </a:p>
          <a:p>
            <a:r>
              <a:rPr lang="en-US" sz="2400" dirty="0"/>
              <a:t> product categories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4A03BD-EACD-F145-4FAE-DB1A5565E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840" y="0"/>
            <a:ext cx="53441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885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8DAB01-FDA3-2E14-148A-96764E3F76ED}"/>
              </a:ext>
            </a:extLst>
          </p:cNvPr>
          <p:cNvSpPr txBox="1"/>
          <p:nvPr/>
        </p:nvSpPr>
        <p:spPr>
          <a:xfrm>
            <a:off x="177800" y="2496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002060"/>
                </a:solidFill>
              </a:rPr>
              <a:t>Key Insights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FD1C509-8B73-7D4E-F3AA-CBC25167D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" y="858352"/>
            <a:ext cx="528760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seasonal demand patterns observed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Winter &amp; Autumn show highest sales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Women’s section outperforms Men’s section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Jackets &amp; Sweaters are top-selling products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082E45-A0AC-186F-46C8-090A6B9A5E6A}"/>
              </a:ext>
            </a:extLst>
          </p:cNvPr>
          <p:cNvSpPr txBox="1"/>
          <p:nvPr/>
        </p:nvSpPr>
        <p:spPr>
          <a:xfrm>
            <a:off x="177800" y="3467031"/>
            <a:ext cx="618744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002060"/>
                </a:solidFill>
              </a:rPr>
              <a:t>Business Recommendations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Increase inventory during Winter &amp; Autumn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Focus marketing on Women’s section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Promote jackets &amp; sweaters in peak seasons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Optimize stock for low-performing categories</a:t>
            </a:r>
          </a:p>
        </p:txBody>
      </p:sp>
    </p:spTree>
    <p:extLst>
      <p:ext uri="{BB962C8B-B14F-4D97-AF65-F5344CB8AC3E}">
        <p14:creationId xmlns:p14="http://schemas.microsoft.com/office/powerpoint/2010/main" val="3380187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394</Words>
  <Application>Microsoft Office PowerPoint</Application>
  <PresentationFormat>Widescreen</PresentationFormat>
  <Paragraphs>77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SOHAIL MSP</dc:creator>
  <cp:lastModifiedBy>SOHAIL MSP</cp:lastModifiedBy>
  <cp:revision>2</cp:revision>
  <dcterms:created xsi:type="dcterms:W3CDTF">2025-12-24T05:32:08Z</dcterms:created>
  <dcterms:modified xsi:type="dcterms:W3CDTF">2026-01-08T13:08:49Z</dcterms:modified>
</cp:coreProperties>
</file>